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grandir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7138117" y="7389461"/>
            <a:ext cx="6200384" cy="4114800"/>
          </a:xfrm>
          <a:custGeom>
            <a:avLst/>
            <a:gdLst/>
            <a:ahLst/>
            <a:cxnLst/>
            <a:rect r="r" b="b" t="t" l="l"/>
            <a:pathLst>
              <a:path h="4114800" w="6200384">
                <a:moveTo>
                  <a:pt x="0" y="4114800"/>
                </a:moveTo>
                <a:lnTo>
                  <a:pt x="6200383" y="4114800"/>
                </a:lnTo>
                <a:lnTo>
                  <a:pt x="62003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3524" y="3988346"/>
            <a:ext cx="8009442" cy="4876052"/>
            <a:chOff x="0" y="0"/>
            <a:chExt cx="1240872" cy="7554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0872" cy="755428"/>
            </a:xfrm>
            <a:custGeom>
              <a:avLst/>
              <a:gdLst/>
              <a:ahLst/>
              <a:cxnLst/>
              <a:rect r="r" b="b" t="t" l="l"/>
              <a:pathLst>
                <a:path h="755428" w="1240872">
                  <a:moveTo>
                    <a:pt x="38664" y="0"/>
                  </a:moveTo>
                  <a:lnTo>
                    <a:pt x="1202208" y="0"/>
                  </a:lnTo>
                  <a:cubicBezTo>
                    <a:pt x="1223562" y="0"/>
                    <a:pt x="1240872" y="17310"/>
                    <a:pt x="1240872" y="38664"/>
                  </a:cubicBezTo>
                  <a:lnTo>
                    <a:pt x="1240872" y="716764"/>
                  </a:lnTo>
                  <a:cubicBezTo>
                    <a:pt x="1240872" y="727018"/>
                    <a:pt x="1236799" y="736853"/>
                    <a:pt x="1229548" y="744104"/>
                  </a:cubicBezTo>
                  <a:cubicBezTo>
                    <a:pt x="1222297" y="751355"/>
                    <a:pt x="1212463" y="755428"/>
                    <a:pt x="1202208" y="755428"/>
                  </a:cubicBezTo>
                  <a:lnTo>
                    <a:pt x="38664" y="755428"/>
                  </a:lnTo>
                  <a:cubicBezTo>
                    <a:pt x="17310" y="755428"/>
                    <a:pt x="0" y="738118"/>
                    <a:pt x="0" y="716764"/>
                  </a:cubicBezTo>
                  <a:lnTo>
                    <a:pt x="0" y="38664"/>
                  </a:lnTo>
                  <a:cubicBezTo>
                    <a:pt x="0" y="28410"/>
                    <a:pt x="4074" y="18575"/>
                    <a:pt x="11324" y="11324"/>
                  </a:cubicBezTo>
                  <a:cubicBezTo>
                    <a:pt x="18575" y="4074"/>
                    <a:pt x="28410" y="0"/>
                    <a:pt x="3866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753" r="0" b="-4753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190118" y="3521504"/>
            <a:ext cx="1352699" cy="201675"/>
          </a:xfrm>
          <a:custGeom>
            <a:avLst/>
            <a:gdLst/>
            <a:ahLst/>
            <a:cxnLst/>
            <a:rect r="r" b="b" t="t" l="l"/>
            <a:pathLst>
              <a:path h="201675" w="1352699">
                <a:moveTo>
                  <a:pt x="0" y="0"/>
                </a:moveTo>
                <a:lnTo>
                  <a:pt x="1352700" y="0"/>
                </a:lnTo>
                <a:lnTo>
                  <a:pt x="1352700" y="201675"/>
                </a:lnTo>
                <a:lnTo>
                  <a:pt x="0" y="2016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90118" y="4994023"/>
            <a:ext cx="780694" cy="580903"/>
            <a:chOff x="0" y="0"/>
            <a:chExt cx="205615" cy="1529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615" cy="152995"/>
            </a:xfrm>
            <a:custGeom>
              <a:avLst/>
              <a:gdLst/>
              <a:ahLst/>
              <a:cxnLst/>
              <a:rect r="r" b="b" t="t" l="l"/>
              <a:pathLst>
                <a:path h="152995" w="205615">
                  <a:moveTo>
                    <a:pt x="76498" y="0"/>
                  </a:moveTo>
                  <a:lnTo>
                    <a:pt x="129117" y="0"/>
                  </a:lnTo>
                  <a:cubicBezTo>
                    <a:pt x="171366" y="0"/>
                    <a:pt x="205615" y="34249"/>
                    <a:pt x="205615" y="76498"/>
                  </a:cubicBezTo>
                  <a:lnTo>
                    <a:pt x="205615" y="76498"/>
                  </a:lnTo>
                  <a:cubicBezTo>
                    <a:pt x="205615" y="118746"/>
                    <a:pt x="171366" y="152995"/>
                    <a:pt x="129117" y="152995"/>
                  </a:cubicBezTo>
                  <a:lnTo>
                    <a:pt x="76498" y="152995"/>
                  </a:lnTo>
                  <a:cubicBezTo>
                    <a:pt x="34249" y="152995"/>
                    <a:pt x="0" y="118746"/>
                    <a:pt x="0" y="76498"/>
                  </a:cubicBezTo>
                  <a:lnTo>
                    <a:pt x="0" y="76498"/>
                  </a:lnTo>
                  <a:cubicBezTo>
                    <a:pt x="0" y="34249"/>
                    <a:pt x="34249" y="0"/>
                    <a:pt x="76498" y="0"/>
                  </a:cubicBezTo>
                  <a:close/>
                </a:path>
              </a:pathLst>
            </a:custGeom>
            <a:solidFill>
              <a:srgbClr val="F468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05615" cy="219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0118" y="6378075"/>
            <a:ext cx="780694" cy="580903"/>
            <a:chOff x="0" y="0"/>
            <a:chExt cx="205615" cy="1529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615" cy="152995"/>
            </a:xfrm>
            <a:custGeom>
              <a:avLst/>
              <a:gdLst/>
              <a:ahLst/>
              <a:cxnLst/>
              <a:rect r="r" b="b" t="t" l="l"/>
              <a:pathLst>
                <a:path h="152995" w="205615">
                  <a:moveTo>
                    <a:pt x="76498" y="0"/>
                  </a:moveTo>
                  <a:lnTo>
                    <a:pt x="129117" y="0"/>
                  </a:lnTo>
                  <a:cubicBezTo>
                    <a:pt x="171366" y="0"/>
                    <a:pt x="205615" y="34249"/>
                    <a:pt x="205615" y="76498"/>
                  </a:cubicBezTo>
                  <a:lnTo>
                    <a:pt x="205615" y="76498"/>
                  </a:lnTo>
                  <a:cubicBezTo>
                    <a:pt x="205615" y="118746"/>
                    <a:pt x="171366" y="152995"/>
                    <a:pt x="129117" y="152995"/>
                  </a:cubicBezTo>
                  <a:lnTo>
                    <a:pt x="76498" y="152995"/>
                  </a:lnTo>
                  <a:cubicBezTo>
                    <a:pt x="34249" y="152995"/>
                    <a:pt x="0" y="118746"/>
                    <a:pt x="0" y="76498"/>
                  </a:cubicBezTo>
                  <a:lnTo>
                    <a:pt x="0" y="76498"/>
                  </a:lnTo>
                  <a:cubicBezTo>
                    <a:pt x="0" y="34249"/>
                    <a:pt x="34249" y="0"/>
                    <a:pt x="76498" y="0"/>
                  </a:cubicBezTo>
                  <a:close/>
                </a:path>
              </a:pathLst>
            </a:custGeom>
            <a:solidFill>
              <a:srgbClr val="F468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5615" cy="219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90118" y="7712517"/>
            <a:ext cx="780694" cy="580903"/>
            <a:chOff x="0" y="0"/>
            <a:chExt cx="205615" cy="1529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615" cy="152995"/>
            </a:xfrm>
            <a:custGeom>
              <a:avLst/>
              <a:gdLst/>
              <a:ahLst/>
              <a:cxnLst/>
              <a:rect r="r" b="b" t="t" l="l"/>
              <a:pathLst>
                <a:path h="152995" w="205615">
                  <a:moveTo>
                    <a:pt x="76498" y="0"/>
                  </a:moveTo>
                  <a:lnTo>
                    <a:pt x="129117" y="0"/>
                  </a:lnTo>
                  <a:cubicBezTo>
                    <a:pt x="171366" y="0"/>
                    <a:pt x="205615" y="34249"/>
                    <a:pt x="205615" y="76498"/>
                  </a:cubicBezTo>
                  <a:lnTo>
                    <a:pt x="205615" y="76498"/>
                  </a:lnTo>
                  <a:cubicBezTo>
                    <a:pt x="205615" y="118746"/>
                    <a:pt x="171366" y="152995"/>
                    <a:pt x="129117" y="152995"/>
                  </a:cubicBezTo>
                  <a:lnTo>
                    <a:pt x="76498" y="152995"/>
                  </a:lnTo>
                  <a:cubicBezTo>
                    <a:pt x="34249" y="152995"/>
                    <a:pt x="0" y="118746"/>
                    <a:pt x="0" y="76498"/>
                  </a:cubicBezTo>
                  <a:lnTo>
                    <a:pt x="0" y="76498"/>
                  </a:lnTo>
                  <a:cubicBezTo>
                    <a:pt x="0" y="34249"/>
                    <a:pt x="34249" y="0"/>
                    <a:pt x="76498" y="0"/>
                  </a:cubicBezTo>
                  <a:close/>
                </a:path>
              </a:pathLst>
            </a:custGeom>
            <a:solidFill>
              <a:srgbClr val="F468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5615" cy="219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4026253" y="-1163698"/>
            <a:ext cx="6200384" cy="4114800"/>
          </a:xfrm>
          <a:custGeom>
            <a:avLst/>
            <a:gdLst/>
            <a:ahLst/>
            <a:cxnLst/>
            <a:rect r="r" b="b" t="t" l="l"/>
            <a:pathLst>
              <a:path h="4114800" w="6200384">
                <a:moveTo>
                  <a:pt x="0" y="4114800"/>
                </a:moveTo>
                <a:lnTo>
                  <a:pt x="6200384" y="4114800"/>
                </a:lnTo>
                <a:lnTo>
                  <a:pt x="620038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0"/>
            <a:ext cx="294643" cy="10287000"/>
            <a:chOff x="0" y="0"/>
            <a:chExt cx="77602" cy="27093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602" cy="2709333"/>
            </a:xfrm>
            <a:custGeom>
              <a:avLst/>
              <a:gdLst/>
              <a:ahLst/>
              <a:cxnLst/>
              <a:rect r="r" b="b" t="t" l="l"/>
              <a:pathLst>
                <a:path h="2709333" w="77602">
                  <a:moveTo>
                    <a:pt x="0" y="0"/>
                  </a:moveTo>
                  <a:lnTo>
                    <a:pt x="77602" y="0"/>
                  </a:lnTo>
                  <a:lnTo>
                    <a:pt x="776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8D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7602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7183406" y="582259"/>
            <a:ext cx="379727" cy="1002613"/>
          </a:xfrm>
          <a:custGeom>
            <a:avLst/>
            <a:gdLst/>
            <a:ahLst/>
            <a:cxnLst/>
            <a:rect r="r" b="b" t="t" l="l"/>
            <a:pathLst>
              <a:path h="1002613" w="379727">
                <a:moveTo>
                  <a:pt x="0" y="0"/>
                </a:moveTo>
                <a:lnTo>
                  <a:pt x="379727" y="0"/>
                </a:lnTo>
                <a:lnTo>
                  <a:pt x="379727" y="1002613"/>
                </a:lnTo>
                <a:lnTo>
                  <a:pt x="0" y="1002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269887" y="302871"/>
            <a:ext cx="780694" cy="78069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68" t="0" r="-68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190118" y="1204263"/>
            <a:ext cx="11526954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Q1 2026 STRATEGIC PERFORMANCE AUDIT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3055" y="3404854"/>
            <a:ext cx="641196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rategic Analysis for GlowUp Pro | March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64462" y="4890775"/>
            <a:ext cx="312562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 Story of 120,000</a:t>
            </a: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Visitors.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64462" y="6451039"/>
            <a:ext cx="350750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 Leaky</a:t>
            </a: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Bucket.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64462" y="7572696"/>
            <a:ext cx="400880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and the Path to Reclaim</a:t>
            </a: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ing $1.5M in Revenue.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69887" y="5045397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69887" y="6429449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69887" y="7763891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542818" y="302871"/>
            <a:ext cx="780694" cy="78069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221587" y="456681"/>
            <a:ext cx="312562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9833" y="1069880"/>
            <a:ext cx="12665145" cy="169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REVENUE DIVERGENCE:</a:t>
            </a:r>
          </a:p>
          <a:p>
            <a:pPr algn="l">
              <a:lnSpc>
                <a:spcPts val="6050"/>
              </a:lnSpc>
            </a:pPr>
            <a:r>
              <a:rPr lang="en-US" sz="55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VOLUME VS. VALUE GAP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8330898"/>
            <a:ext cx="18288000" cy="1956102"/>
            <a:chOff x="0" y="0"/>
            <a:chExt cx="4816593" cy="515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15187"/>
            </a:xfrm>
            <a:custGeom>
              <a:avLst/>
              <a:gdLst/>
              <a:ahLst/>
              <a:cxnLst/>
              <a:rect r="r" b="b" t="t" l="l"/>
              <a:pathLst>
                <a:path h="515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15187"/>
                  </a:lnTo>
                  <a:lnTo>
                    <a:pt x="0" y="515187"/>
                  </a:lnTo>
                  <a:close/>
                </a:path>
              </a:pathLst>
            </a:custGeom>
            <a:solidFill>
              <a:srgbClr val="FFC8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16593" cy="5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8748" y="3843170"/>
            <a:ext cx="9961526" cy="5403844"/>
            <a:chOff x="0" y="0"/>
            <a:chExt cx="1559019" cy="8457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9019" cy="845723"/>
            </a:xfrm>
            <a:custGeom>
              <a:avLst/>
              <a:gdLst/>
              <a:ahLst/>
              <a:cxnLst/>
              <a:rect r="r" b="b" t="t" l="l"/>
              <a:pathLst>
                <a:path h="845723" w="1559019">
                  <a:moveTo>
                    <a:pt x="31087" y="0"/>
                  </a:moveTo>
                  <a:lnTo>
                    <a:pt x="1527932" y="0"/>
                  </a:lnTo>
                  <a:cubicBezTo>
                    <a:pt x="1536177" y="0"/>
                    <a:pt x="1544084" y="3275"/>
                    <a:pt x="1549914" y="9105"/>
                  </a:cubicBezTo>
                  <a:cubicBezTo>
                    <a:pt x="1555744" y="14935"/>
                    <a:pt x="1559019" y="22842"/>
                    <a:pt x="1559019" y="31087"/>
                  </a:cubicBezTo>
                  <a:lnTo>
                    <a:pt x="1559019" y="814636"/>
                  </a:lnTo>
                  <a:cubicBezTo>
                    <a:pt x="1559019" y="822881"/>
                    <a:pt x="1555744" y="830788"/>
                    <a:pt x="1549914" y="836618"/>
                  </a:cubicBezTo>
                  <a:cubicBezTo>
                    <a:pt x="1544084" y="842448"/>
                    <a:pt x="1536177" y="845723"/>
                    <a:pt x="1527932" y="845723"/>
                  </a:cubicBezTo>
                  <a:lnTo>
                    <a:pt x="31087" y="845723"/>
                  </a:lnTo>
                  <a:cubicBezTo>
                    <a:pt x="22842" y="845723"/>
                    <a:pt x="14935" y="842448"/>
                    <a:pt x="9105" y="836618"/>
                  </a:cubicBezTo>
                  <a:cubicBezTo>
                    <a:pt x="3275" y="830788"/>
                    <a:pt x="0" y="822881"/>
                    <a:pt x="0" y="814636"/>
                  </a:cubicBezTo>
                  <a:lnTo>
                    <a:pt x="0" y="31087"/>
                  </a:lnTo>
                  <a:cubicBezTo>
                    <a:pt x="0" y="22842"/>
                    <a:pt x="3275" y="14935"/>
                    <a:pt x="9105" y="9105"/>
                  </a:cubicBezTo>
                  <a:cubicBezTo>
                    <a:pt x="14935" y="3275"/>
                    <a:pt x="22842" y="0"/>
                    <a:pt x="310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69" r="0" b="-1269"/>
              </a:stretch>
            </a:blipFill>
            <a:ln w="47625" cap="rnd">
              <a:solidFill>
                <a:srgbClr val="F46896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438341" y="3101542"/>
            <a:ext cx="1352699" cy="201675"/>
          </a:xfrm>
          <a:custGeom>
            <a:avLst/>
            <a:gdLst/>
            <a:ahLst/>
            <a:cxnLst/>
            <a:rect r="r" b="b" t="t" l="l"/>
            <a:pathLst>
              <a:path h="201675" w="1352699">
                <a:moveTo>
                  <a:pt x="0" y="0"/>
                </a:moveTo>
                <a:lnTo>
                  <a:pt x="1352699" y="0"/>
                </a:lnTo>
                <a:lnTo>
                  <a:pt x="1352699" y="201675"/>
                </a:lnTo>
                <a:lnTo>
                  <a:pt x="0" y="201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5644978" y="-424687"/>
            <a:ext cx="4380071" cy="2906774"/>
          </a:xfrm>
          <a:custGeom>
            <a:avLst/>
            <a:gdLst/>
            <a:ahLst/>
            <a:cxnLst/>
            <a:rect r="r" b="b" t="t" l="l"/>
            <a:pathLst>
              <a:path h="2906774" w="4380071">
                <a:moveTo>
                  <a:pt x="0" y="2906774"/>
                </a:moveTo>
                <a:lnTo>
                  <a:pt x="4380071" y="2906774"/>
                </a:lnTo>
                <a:lnTo>
                  <a:pt x="4380071" y="0"/>
                </a:lnTo>
                <a:lnTo>
                  <a:pt x="0" y="0"/>
                </a:lnTo>
                <a:lnTo>
                  <a:pt x="0" y="290677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-1060831" y="225934"/>
            <a:ext cx="2859158" cy="1897441"/>
          </a:xfrm>
          <a:custGeom>
            <a:avLst/>
            <a:gdLst/>
            <a:ahLst/>
            <a:cxnLst/>
            <a:rect r="r" b="b" t="t" l="l"/>
            <a:pathLst>
              <a:path h="1897441" w="2859158">
                <a:moveTo>
                  <a:pt x="2859157" y="1897441"/>
                </a:moveTo>
                <a:lnTo>
                  <a:pt x="0" y="1897441"/>
                </a:lnTo>
                <a:lnTo>
                  <a:pt x="0" y="0"/>
                </a:lnTo>
                <a:lnTo>
                  <a:pt x="2859157" y="0"/>
                </a:lnTo>
                <a:lnTo>
                  <a:pt x="2859157" y="189744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53172" y="4986392"/>
            <a:ext cx="6922989" cy="200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7"/>
              </a:lnSpc>
              <a:spcBef>
                <a:spcPct val="0"/>
              </a:spcBef>
            </a:pPr>
            <a:r>
              <a:rPr lang="en-US" b="true" sz="226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Traffic volume increased by 16.6%, yet rev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enue saw a month-over-month decline. This indicates a high influx of low-intent vis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tors failing t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co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nvert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at the fi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nal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stage o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t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 funnel.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679565" y="225934"/>
            <a:ext cx="4608435" cy="4181108"/>
          </a:xfrm>
          <a:custGeom>
            <a:avLst/>
            <a:gdLst/>
            <a:ahLst/>
            <a:cxnLst/>
            <a:rect r="r" b="b" t="t" l="l"/>
            <a:pathLst>
              <a:path h="4181108" w="4608435">
                <a:moveTo>
                  <a:pt x="0" y="0"/>
                </a:moveTo>
                <a:lnTo>
                  <a:pt x="4608435" y="0"/>
                </a:lnTo>
                <a:lnTo>
                  <a:pt x="4608435" y="4181108"/>
                </a:lnTo>
                <a:lnTo>
                  <a:pt x="0" y="41811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621249" cy="10287000"/>
            <a:chOff x="0" y="0"/>
            <a:chExt cx="174386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386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3868">
                  <a:moveTo>
                    <a:pt x="0" y="0"/>
                  </a:moveTo>
                  <a:lnTo>
                    <a:pt x="1743868" y="0"/>
                  </a:lnTo>
                  <a:lnTo>
                    <a:pt x="174386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8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4386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3267" y="2236870"/>
            <a:ext cx="8058078" cy="7247081"/>
            <a:chOff x="0" y="0"/>
            <a:chExt cx="1550141" cy="13941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0141" cy="1394129"/>
            </a:xfrm>
            <a:custGeom>
              <a:avLst/>
              <a:gdLst/>
              <a:ahLst/>
              <a:cxnLst/>
              <a:rect r="r" b="b" t="t" l="l"/>
              <a:pathLst>
                <a:path h="1394129" w="1550141">
                  <a:moveTo>
                    <a:pt x="38431" y="0"/>
                  </a:moveTo>
                  <a:lnTo>
                    <a:pt x="1511711" y="0"/>
                  </a:lnTo>
                  <a:cubicBezTo>
                    <a:pt x="1532935" y="0"/>
                    <a:pt x="1550141" y="17206"/>
                    <a:pt x="1550141" y="38431"/>
                  </a:cubicBezTo>
                  <a:lnTo>
                    <a:pt x="1550141" y="1355698"/>
                  </a:lnTo>
                  <a:cubicBezTo>
                    <a:pt x="1550141" y="1376923"/>
                    <a:pt x="1532935" y="1394129"/>
                    <a:pt x="1511711" y="1394129"/>
                  </a:cubicBezTo>
                  <a:lnTo>
                    <a:pt x="38431" y="1394129"/>
                  </a:lnTo>
                  <a:cubicBezTo>
                    <a:pt x="17206" y="1394129"/>
                    <a:pt x="0" y="1376923"/>
                    <a:pt x="0" y="1355698"/>
                  </a:cubicBezTo>
                  <a:lnTo>
                    <a:pt x="0" y="38431"/>
                  </a:lnTo>
                  <a:cubicBezTo>
                    <a:pt x="0" y="17206"/>
                    <a:pt x="17206" y="0"/>
                    <a:pt x="38431" y="0"/>
                  </a:cubicBezTo>
                  <a:close/>
                </a:path>
              </a:pathLst>
            </a:custGeom>
            <a:blipFill>
              <a:blip r:embed="rId2"/>
              <a:stretch>
                <a:fillRect l="-528" t="0" r="-528" b="0"/>
              </a:stretch>
            </a:blipFill>
            <a:ln w="76200" cap="rnd">
              <a:solidFill>
                <a:srgbClr val="F46896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078448" y="2035195"/>
            <a:ext cx="1352699" cy="201675"/>
          </a:xfrm>
          <a:custGeom>
            <a:avLst/>
            <a:gdLst/>
            <a:ahLst/>
            <a:cxnLst/>
            <a:rect r="r" b="b" t="t" l="l"/>
            <a:pathLst>
              <a:path h="201675" w="1352699">
                <a:moveTo>
                  <a:pt x="0" y="0"/>
                </a:moveTo>
                <a:lnTo>
                  <a:pt x="1352700" y="0"/>
                </a:lnTo>
                <a:lnTo>
                  <a:pt x="1352700" y="201675"/>
                </a:lnTo>
                <a:lnTo>
                  <a:pt x="0" y="201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8252" y="5514261"/>
            <a:ext cx="4065790" cy="3969690"/>
          </a:xfrm>
          <a:custGeom>
            <a:avLst/>
            <a:gdLst/>
            <a:ahLst/>
            <a:cxnLst/>
            <a:rect r="r" b="b" t="t" l="l"/>
            <a:pathLst>
              <a:path h="3969690" w="4065790">
                <a:moveTo>
                  <a:pt x="0" y="0"/>
                </a:moveTo>
                <a:lnTo>
                  <a:pt x="4065791" y="0"/>
                </a:lnTo>
                <a:lnTo>
                  <a:pt x="4065791" y="3969690"/>
                </a:lnTo>
                <a:lnTo>
                  <a:pt x="0" y="3969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73294" y="7134652"/>
            <a:ext cx="6200384" cy="4114800"/>
          </a:xfrm>
          <a:custGeom>
            <a:avLst/>
            <a:gdLst/>
            <a:ahLst/>
            <a:cxnLst/>
            <a:rect r="r" b="b" t="t" l="l"/>
            <a:pathLst>
              <a:path h="4114800" w="6200384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04761" y="176530"/>
            <a:ext cx="10764363" cy="160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52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MARKETING EFFICIENCY: SOCIAL AD ACQUISITION COST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7630" y="3037859"/>
            <a:ext cx="6922989" cy="160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7"/>
              </a:lnSpc>
              <a:spcBef>
                <a:spcPct val="0"/>
              </a:spcBef>
            </a:pPr>
            <a:r>
              <a:rPr lang="en-US" b="true" sz="226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Ads are currently operati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ng at a 0.45 ROAS with a $711 CAC. This channel is significantly underperforming compared to Email Marketing, which maintains a 12.0 ROAS.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5268238" y="-568325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0" y="3194050"/>
                </a:moveTo>
                <a:lnTo>
                  <a:pt x="4812952" y="3194050"/>
                </a:lnTo>
                <a:lnTo>
                  <a:pt x="4812952" y="0"/>
                </a:lnTo>
                <a:lnTo>
                  <a:pt x="0" y="0"/>
                </a:lnTo>
                <a:lnTo>
                  <a:pt x="0" y="31940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98897" y="0"/>
            <a:ext cx="5189103" cy="10287000"/>
            <a:chOff x="0" y="0"/>
            <a:chExt cx="136667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66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66677">
                  <a:moveTo>
                    <a:pt x="0" y="0"/>
                  </a:moveTo>
                  <a:lnTo>
                    <a:pt x="1366677" y="0"/>
                  </a:lnTo>
                  <a:lnTo>
                    <a:pt x="13666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8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366677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87541" y="1028700"/>
            <a:ext cx="8571935" cy="4706302"/>
            <a:chOff x="0" y="0"/>
            <a:chExt cx="1328017" cy="7291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8017" cy="729129"/>
            </a:xfrm>
            <a:custGeom>
              <a:avLst/>
              <a:gdLst/>
              <a:ahLst/>
              <a:cxnLst/>
              <a:rect r="r" b="b" t="t" l="l"/>
              <a:pathLst>
                <a:path h="729129" w="1328017">
                  <a:moveTo>
                    <a:pt x="36127" y="0"/>
                  </a:moveTo>
                  <a:lnTo>
                    <a:pt x="1291890" y="0"/>
                  </a:lnTo>
                  <a:cubicBezTo>
                    <a:pt x="1311843" y="0"/>
                    <a:pt x="1328017" y="16175"/>
                    <a:pt x="1328017" y="36127"/>
                  </a:cubicBezTo>
                  <a:lnTo>
                    <a:pt x="1328017" y="693003"/>
                  </a:lnTo>
                  <a:cubicBezTo>
                    <a:pt x="1328017" y="712955"/>
                    <a:pt x="1311843" y="729129"/>
                    <a:pt x="1291890" y="729129"/>
                  </a:cubicBezTo>
                  <a:lnTo>
                    <a:pt x="36127" y="729129"/>
                  </a:lnTo>
                  <a:cubicBezTo>
                    <a:pt x="16175" y="729129"/>
                    <a:pt x="0" y="712955"/>
                    <a:pt x="0" y="693003"/>
                  </a:cubicBezTo>
                  <a:lnTo>
                    <a:pt x="0" y="36127"/>
                  </a:lnTo>
                  <a:cubicBezTo>
                    <a:pt x="0" y="16175"/>
                    <a:pt x="16175" y="0"/>
                    <a:pt x="3612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70" r="0" b="-770"/>
              </a:stretch>
            </a:blipFill>
            <a:ln w="47625" cap="rnd">
              <a:solidFill>
                <a:srgbClr val="FD558F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674714" y="8836818"/>
            <a:ext cx="1352699" cy="201675"/>
          </a:xfrm>
          <a:custGeom>
            <a:avLst/>
            <a:gdLst/>
            <a:ahLst/>
            <a:cxnLst/>
            <a:rect r="r" b="b" t="t" l="l"/>
            <a:pathLst>
              <a:path h="201675" w="1352699">
                <a:moveTo>
                  <a:pt x="0" y="0"/>
                </a:moveTo>
                <a:lnTo>
                  <a:pt x="1352700" y="0"/>
                </a:lnTo>
                <a:lnTo>
                  <a:pt x="1352700" y="201675"/>
                </a:lnTo>
                <a:lnTo>
                  <a:pt x="0" y="2016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2211383" y="7868702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4812952" y="0"/>
                </a:moveTo>
                <a:lnTo>
                  <a:pt x="0" y="0"/>
                </a:lnTo>
                <a:lnTo>
                  <a:pt x="0" y="3194050"/>
                </a:lnTo>
                <a:lnTo>
                  <a:pt x="4812952" y="3194050"/>
                </a:lnTo>
                <a:lnTo>
                  <a:pt x="48129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910399" y="1603950"/>
            <a:ext cx="379727" cy="1002613"/>
          </a:xfrm>
          <a:custGeom>
            <a:avLst/>
            <a:gdLst/>
            <a:ahLst/>
            <a:cxnLst/>
            <a:rect r="r" b="b" t="t" l="l"/>
            <a:pathLst>
              <a:path h="1002613" w="379727">
                <a:moveTo>
                  <a:pt x="0" y="0"/>
                </a:moveTo>
                <a:lnTo>
                  <a:pt x="379727" y="0"/>
                </a:lnTo>
                <a:lnTo>
                  <a:pt x="379727" y="1002613"/>
                </a:lnTo>
                <a:lnTo>
                  <a:pt x="0" y="1002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74714" y="6485966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Category Profitability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1726" y="3039703"/>
            <a:ext cx="6922989" cy="200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7"/>
              </a:lnSpc>
              <a:spcBef>
                <a:spcPct val="0"/>
              </a:spcBef>
            </a:pPr>
            <a:r>
              <a:rPr lang="en-US" b="true" sz="226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Skincare remains the primary 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growth driver with an 8.2% conversion rate. Conversely, the Apparel category is underperforming at 1.2%, despite receiving a majority of the current ad spend allocation.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2100263" y="5529021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6307" y="776401"/>
            <a:ext cx="9373084" cy="5204871"/>
            <a:chOff x="0" y="0"/>
            <a:chExt cx="2016420" cy="1119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420" cy="1119717"/>
            </a:xfrm>
            <a:custGeom>
              <a:avLst/>
              <a:gdLst/>
              <a:ahLst/>
              <a:cxnLst/>
              <a:rect r="r" b="b" t="t" l="l"/>
              <a:pathLst>
                <a:path h="1119717" w="2016420">
                  <a:moveTo>
                    <a:pt x="33039" y="0"/>
                  </a:moveTo>
                  <a:lnTo>
                    <a:pt x="1983381" y="0"/>
                  </a:lnTo>
                  <a:cubicBezTo>
                    <a:pt x="2001627" y="0"/>
                    <a:pt x="2016420" y="14792"/>
                    <a:pt x="2016420" y="33039"/>
                  </a:cubicBezTo>
                  <a:lnTo>
                    <a:pt x="2016420" y="1086678"/>
                  </a:lnTo>
                  <a:cubicBezTo>
                    <a:pt x="2016420" y="1104925"/>
                    <a:pt x="2001627" y="1119717"/>
                    <a:pt x="1983381" y="1119717"/>
                  </a:cubicBezTo>
                  <a:lnTo>
                    <a:pt x="33039" y="1119717"/>
                  </a:lnTo>
                  <a:cubicBezTo>
                    <a:pt x="14792" y="1119717"/>
                    <a:pt x="0" y="1104925"/>
                    <a:pt x="0" y="1086678"/>
                  </a:cubicBezTo>
                  <a:lnTo>
                    <a:pt x="0" y="33039"/>
                  </a:lnTo>
                  <a:cubicBezTo>
                    <a:pt x="0" y="14792"/>
                    <a:pt x="14792" y="0"/>
                    <a:pt x="3303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60" r="0" b="-760"/>
              </a:stretch>
            </a:blipFill>
            <a:ln w="47625" cap="rnd">
              <a:solidFill>
                <a:srgbClr val="FD558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435705" y="2306751"/>
            <a:ext cx="6536513" cy="232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FULFILLMENT LEAD TIME</a:t>
            </a:r>
            <a:r>
              <a:rPr lang="en-US" sz="56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IMPACT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477811" y="7989621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0" y="3194050"/>
                </a:moveTo>
                <a:lnTo>
                  <a:pt x="4812952" y="3194050"/>
                </a:lnTo>
                <a:lnTo>
                  <a:pt x="4812952" y="0"/>
                </a:lnTo>
                <a:lnTo>
                  <a:pt x="0" y="0"/>
                </a:lnTo>
                <a:lnTo>
                  <a:pt x="0" y="3194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316225" y="-820624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0" y="3194050"/>
                </a:moveTo>
                <a:lnTo>
                  <a:pt x="4812952" y="3194050"/>
                </a:lnTo>
                <a:lnTo>
                  <a:pt x="4812952" y="0"/>
                </a:lnTo>
                <a:lnTo>
                  <a:pt x="0" y="0"/>
                </a:lnTo>
                <a:lnTo>
                  <a:pt x="0" y="3194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81633" y="6721072"/>
            <a:ext cx="6922989" cy="200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7"/>
              </a:lnSpc>
              <a:spcBef>
                <a:spcPct val="0"/>
              </a:spcBef>
            </a:pPr>
            <a:r>
              <a:rPr lang="en-US" b="true" sz="226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Skincare remains the primary </a:t>
            </a:r>
            <a:r>
              <a:rPr lang="en-US" b="true" sz="2269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growth driver with an 8.2% conversion rate. Conversely, the Apparel category is underperforming at 1.2%, despite receiving a majority of the current ad spend allocation.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5548826">
            <a:off x="14565742" y="7473489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0" y="3194050"/>
                </a:moveTo>
                <a:lnTo>
                  <a:pt x="4812952" y="3194050"/>
                </a:lnTo>
                <a:lnTo>
                  <a:pt x="4812952" y="0"/>
                </a:lnTo>
                <a:lnTo>
                  <a:pt x="0" y="0"/>
                </a:lnTo>
                <a:lnTo>
                  <a:pt x="0" y="3194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69987" y="0"/>
            <a:ext cx="718013" cy="10287000"/>
            <a:chOff x="0" y="0"/>
            <a:chExt cx="18910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1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9106">
                  <a:moveTo>
                    <a:pt x="0" y="0"/>
                  </a:moveTo>
                  <a:lnTo>
                    <a:pt x="189106" y="0"/>
                  </a:lnTo>
                  <a:lnTo>
                    <a:pt x="1891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8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9106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20349" y="442573"/>
            <a:ext cx="12201810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REVENUE OPTIMIZATION &amp; GROWTH FRAMEWORK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509" y="3717925"/>
            <a:ext cx="7293070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Immediate 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reduction of Social Ad spend by 40% to eliminate negative-ROI traffic. Redirecting these funds into High-Intent Search and Email Retargeting to leverage our existing 10%–12% conversion channels.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1625" y="6627167"/>
            <a:ext cx="7722435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Shifting the primary ma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rketing focus from Apparel (1.2% CR) to Skincare (8.2% CR). By fueling the "Hero" category, we ensure that every dollar spent on acquisition has a 7x higher probability of resulting in a sale.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95397" y="3135399"/>
            <a:ext cx="44633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Capital</a:t>
            </a:r>
            <a:r>
              <a:rPr lang="en-US" b="true" sz="20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Efficiency &amp; Reallocation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4471" y="3113809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28171" y="5987989"/>
            <a:ext cx="508534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High-Marg</a:t>
            </a:r>
            <a:r>
              <a:rPr lang="en-US" b="true" sz="20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in Category Prioritization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7245" y="5966399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16553" y="3104284"/>
            <a:ext cx="44633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</a:t>
            </a:r>
            <a:r>
              <a:rPr lang="en-US" b="true" sz="20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Friction Mitigation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0524" y="3066158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84753" y="5975289"/>
            <a:ext cx="44633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AOV &amp; Reten</a:t>
            </a:r>
            <a:r>
              <a:rPr lang="en-US" b="true" sz="20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tion Scaling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50374" y="5944174"/>
            <a:ext cx="578669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-2058919" y="8062267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4812952" y="0"/>
                </a:moveTo>
                <a:lnTo>
                  <a:pt x="0" y="0"/>
                </a:lnTo>
                <a:lnTo>
                  <a:pt x="0" y="3194050"/>
                </a:lnTo>
                <a:lnTo>
                  <a:pt x="4812952" y="3194050"/>
                </a:lnTo>
                <a:lnTo>
                  <a:pt x="48129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-1651431" y="-765705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4812952" y="3194050"/>
                </a:moveTo>
                <a:lnTo>
                  <a:pt x="0" y="3194050"/>
                </a:lnTo>
                <a:lnTo>
                  <a:pt x="0" y="0"/>
                </a:lnTo>
                <a:lnTo>
                  <a:pt x="4812952" y="0"/>
                </a:lnTo>
                <a:lnTo>
                  <a:pt x="4812952" y="31940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22178" y="2688942"/>
            <a:ext cx="1352699" cy="201675"/>
          </a:xfrm>
          <a:custGeom>
            <a:avLst/>
            <a:gdLst/>
            <a:ahLst/>
            <a:cxnLst/>
            <a:rect r="r" b="b" t="t" l="l"/>
            <a:pathLst>
              <a:path h="201675" w="1352699">
                <a:moveTo>
                  <a:pt x="0" y="0"/>
                </a:moveTo>
                <a:lnTo>
                  <a:pt x="1352699" y="0"/>
                </a:lnTo>
                <a:lnTo>
                  <a:pt x="1352699" y="201675"/>
                </a:lnTo>
                <a:lnTo>
                  <a:pt x="0" y="201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069768" y="3709988"/>
            <a:ext cx="7293070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Resolving the "10-Day Barrier" in the No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rth region. Implementing localized fulfillment or expedited carrier partnerships to bring delivery times under the 5-day threshold, which is projected to recover a 60% loss in regional sales.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74713" y="6578478"/>
            <a:ext cx="7293070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Implementing "Routine Bundling" (cross-selling Skincare with high-margin Accessories) to increase the Average Order Value. Simultaneously, launching a re-engagement campaign to stabilize the 10% drop in Daily Active Users among repeat customers.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423046" y="3024309"/>
            <a:ext cx="613706" cy="613706"/>
          </a:xfrm>
          <a:custGeom>
            <a:avLst/>
            <a:gdLst/>
            <a:ahLst/>
            <a:cxnLst/>
            <a:rect r="r" b="b" t="t" l="l"/>
            <a:pathLst>
              <a:path h="613706" w="613706">
                <a:moveTo>
                  <a:pt x="0" y="0"/>
                </a:moveTo>
                <a:lnTo>
                  <a:pt x="613706" y="0"/>
                </a:lnTo>
                <a:lnTo>
                  <a:pt x="613706" y="613706"/>
                </a:lnTo>
                <a:lnTo>
                  <a:pt x="0" y="6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52341" y="3024309"/>
            <a:ext cx="613706" cy="613706"/>
          </a:xfrm>
          <a:custGeom>
            <a:avLst/>
            <a:gdLst/>
            <a:ahLst/>
            <a:cxnLst/>
            <a:rect r="r" b="b" t="t" l="l"/>
            <a:pathLst>
              <a:path h="613706" w="613706">
                <a:moveTo>
                  <a:pt x="0" y="0"/>
                </a:moveTo>
                <a:lnTo>
                  <a:pt x="613705" y="0"/>
                </a:lnTo>
                <a:lnTo>
                  <a:pt x="613705" y="613706"/>
                </a:lnTo>
                <a:lnTo>
                  <a:pt x="0" y="6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481692" y="5915025"/>
            <a:ext cx="613706" cy="613706"/>
          </a:xfrm>
          <a:custGeom>
            <a:avLst/>
            <a:gdLst/>
            <a:ahLst/>
            <a:cxnLst/>
            <a:rect r="r" b="b" t="t" l="l"/>
            <a:pathLst>
              <a:path h="613706" w="613706">
                <a:moveTo>
                  <a:pt x="0" y="0"/>
                </a:moveTo>
                <a:lnTo>
                  <a:pt x="613705" y="0"/>
                </a:lnTo>
                <a:lnTo>
                  <a:pt x="613705" y="613706"/>
                </a:lnTo>
                <a:lnTo>
                  <a:pt x="0" y="613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652341" y="5811838"/>
            <a:ext cx="613706" cy="613706"/>
          </a:xfrm>
          <a:custGeom>
            <a:avLst/>
            <a:gdLst/>
            <a:ahLst/>
            <a:cxnLst/>
            <a:rect r="r" b="b" t="t" l="l"/>
            <a:pathLst>
              <a:path h="613706" w="613706">
                <a:moveTo>
                  <a:pt x="0" y="0"/>
                </a:moveTo>
                <a:lnTo>
                  <a:pt x="613705" y="0"/>
                </a:lnTo>
                <a:lnTo>
                  <a:pt x="613705" y="613705"/>
                </a:lnTo>
                <a:lnTo>
                  <a:pt x="0" y="613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301" y="2072005"/>
            <a:ext cx="12539399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60"/>
              </a:lnSpc>
              <a:spcBef>
                <a:spcPct val="0"/>
              </a:spcBef>
            </a:pPr>
            <a:r>
              <a:rPr lang="en-US" b="true" sz="660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R</a:t>
            </a:r>
            <a:r>
              <a:rPr lang="en-US" b="true" sz="66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oadmap</a:t>
            </a:r>
            <a:r>
              <a:rPr lang="en-US" b="true" sz="66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to 15% Growth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06344" y="7297331"/>
            <a:ext cx="370063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Shift 40% of Soci</a:t>
            </a: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al Ad budget to Retargeting and High-Intent Search.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93680" y="7297331"/>
            <a:ext cx="370063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unch cross-category "Routine Bundles" to increase Average Order Value (AOV).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06344" y="6782136"/>
            <a:ext cx="370063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Capital Reallocation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3680" y="6782136"/>
            <a:ext cx="370063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Bundling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81016" y="7297331"/>
            <a:ext cx="370063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Localize fulfillment in the North to reduce </a:t>
            </a: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lead times under the 5-day threshold.</a:t>
            </a:r>
          </a:p>
          <a:p>
            <a:pPr algn="ctr">
              <a:lnSpc>
                <a:spcPts val="2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481016" y="6782136"/>
            <a:ext cx="370063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Logistics Optimization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4710514" y="6276871"/>
            <a:ext cx="4662112" cy="0"/>
          </a:xfrm>
          <a:prstGeom prst="line">
            <a:avLst/>
          </a:prstGeom>
          <a:ln cap="flat" w="952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3057352" y="6276871"/>
            <a:ext cx="2039202" cy="0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13113971" y="6276871"/>
            <a:ext cx="2116676" cy="0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987156" y="6276871"/>
            <a:ext cx="4507152" cy="0"/>
          </a:xfrm>
          <a:prstGeom prst="line">
            <a:avLst/>
          </a:prstGeom>
          <a:ln cap="flat" w="952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117461" y="3927049"/>
            <a:ext cx="1678405" cy="1678405"/>
          </a:xfrm>
          <a:custGeom>
            <a:avLst/>
            <a:gdLst/>
            <a:ahLst/>
            <a:cxnLst/>
            <a:rect r="r" b="b" t="t" l="l"/>
            <a:pathLst>
              <a:path h="1678405" w="1678405">
                <a:moveTo>
                  <a:pt x="0" y="0"/>
                </a:moveTo>
                <a:lnTo>
                  <a:pt x="1678406" y="0"/>
                </a:lnTo>
                <a:lnTo>
                  <a:pt x="1678406" y="1678405"/>
                </a:lnTo>
                <a:lnTo>
                  <a:pt x="0" y="167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04797" y="3924916"/>
            <a:ext cx="1678405" cy="1678405"/>
          </a:xfrm>
          <a:custGeom>
            <a:avLst/>
            <a:gdLst/>
            <a:ahLst/>
            <a:cxnLst/>
            <a:rect r="r" b="b" t="t" l="l"/>
            <a:pathLst>
              <a:path h="1678405" w="1678405">
                <a:moveTo>
                  <a:pt x="0" y="0"/>
                </a:moveTo>
                <a:lnTo>
                  <a:pt x="1678406" y="0"/>
                </a:lnTo>
                <a:lnTo>
                  <a:pt x="1678406" y="1678405"/>
                </a:lnTo>
                <a:lnTo>
                  <a:pt x="0" y="167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92133" y="3927049"/>
            <a:ext cx="1678405" cy="1678405"/>
          </a:xfrm>
          <a:custGeom>
            <a:avLst/>
            <a:gdLst/>
            <a:ahLst/>
            <a:cxnLst/>
            <a:rect r="r" b="b" t="t" l="l"/>
            <a:pathLst>
              <a:path h="1678405" w="1678405">
                <a:moveTo>
                  <a:pt x="0" y="0"/>
                </a:moveTo>
                <a:lnTo>
                  <a:pt x="1678406" y="0"/>
                </a:lnTo>
                <a:lnTo>
                  <a:pt x="1678406" y="1678405"/>
                </a:lnTo>
                <a:lnTo>
                  <a:pt x="0" y="167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9867836"/>
            <a:ext cx="18288000" cy="419164"/>
            <a:chOff x="0" y="0"/>
            <a:chExt cx="4816593" cy="1103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110397"/>
            </a:xfrm>
            <a:custGeom>
              <a:avLst/>
              <a:gdLst/>
              <a:ahLst/>
              <a:cxnLst/>
              <a:rect r="r" b="b" t="t" l="l"/>
              <a:pathLst>
                <a:path h="11039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397"/>
                  </a:lnTo>
                  <a:lnTo>
                    <a:pt x="0" y="110397"/>
                  </a:lnTo>
                  <a:close/>
                </a:path>
              </a:pathLst>
            </a:custGeom>
            <a:solidFill>
              <a:srgbClr val="FFC8D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816593" cy="177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true" rot="0">
            <a:off x="-1706608" y="0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4812952" y="3194050"/>
                </a:moveTo>
                <a:lnTo>
                  <a:pt x="0" y="3194050"/>
                </a:lnTo>
                <a:lnTo>
                  <a:pt x="0" y="0"/>
                </a:lnTo>
                <a:lnTo>
                  <a:pt x="4812952" y="0"/>
                </a:lnTo>
                <a:lnTo>
                  <a:pt x="4812952" y="31940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0">
            <a:off x="14967867" y="0"/>
            <a:ext cx="4812952" cy="3194050"/>
          </a:xfrm>
          <a:custGeom>
            <a:avLst/>
            <a:gdLst/>
            <a:ahLst/>
            <a:cxnLst/>
            <a:rect r="r" b="b" t="t" l="l"/>
            <a:pathLst>
              <a:path h="3194050" w="4812952">
                <a:moveTo>
                  <a:pt x="0" y="3194050"/>
                </a:moveTo>
                <a:lnTo>
                  <a:pt x="4812953" y="3194050"/>
                </a:lnTo>
                <a:lnTo>
                  <a:pt x="4812953" y="0"/>
                </a:lnTo>
                <a:lnTo>
                  <a:pt x="0" y="0"/>
                </a:lnTo>
                <a:lnTo>
                  <a:pt x="0" y="31940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DAHET92ukvA</dc:identifier>
  <dcterms:modified xsi:type="dcterms:W3CDTF">2011-08-01T06:04:30Z</dcterms:modified>
  <cp:revision>1</cp:revision>
  <dc:title>Teal and White Clean Business Pitch Deck Presentation</dc:title>
</cp:coreProperties>
</file>